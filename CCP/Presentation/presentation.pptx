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1" r:id="rId1"/>
  </p:sldMasterIdLst>
  <p:sldIdLst>
    <p:sldId id="256" r:id="rId2"/>
    <p:sldId id="257" r:id="rId3"/>
    <p:sldId id="258" r:id="rId4"/>
    <p:sldId id="259" r:id="rId5"/>
    <p:sldId id="260" r:id="rId6"/>
    <p:sldId id="262" r:id="rId7"/>
    <p:sldId id="263" r:id="rId8"/>
    <p:sldId id="264" r:id="rId9"/>
    <p:sldId id="268" r:id="rId10"/>
    <p:sldId id="266" r:id="rId11"/>
    <p:sldId id="267" r:id="rId12"/>
    <p:sldId id="270" r:id="rId13"/>
    <p:sldId id="271" r:id="rId14"/>
    <p:sldId id="272" r:id="rId15"/>
    <p:sldId id="273" r:id="rId16"/>
    <p:sldId id="275" r:id="rId17"/>
    <p:sldId id="274" r:id="rId18"/>
    <p:sldId id="265"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485" autoAdjust="0"/>
    <p:restoredTop sz="94660"/>
  </p:normalViewPr>
  <p:slideViewPr>
    <p:cSldViewPr snapToGrid="0">
      <p:cViewPr varScale="1">
        <p:scale>
          <a:sx n="73" d="100"/>
          <a:sy n="73" d="100"/>
        </p:scale>
        <p:origin x="64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78367BD-450E-4CE5-82F7-0FB7460A9CF7}" type="datetimeFigureOut">
              <a:rPr lang="en-US" smtClean="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5A0A3E-D1DD-4F79-A9B8-39E484722478}" type="slidenum">
              <a:rPr lang="en-US" smtClean="0"/>
              <a:t>‹#›</a:t>
            </a:fld>
            <a:endParaRPr lang="en-US"/>
          </a:p>
        </p:txBody>
      </p:sp>
    </p:spTree>
    <p:extLst>
      <p:ext uri="{BB962C8B-B14F-4D97-AF65-F5344CB8AC3E}">
        <p14:creationId xmlns:p14="http://schemas.microsoft.com/office/powerpoint/2010/main" val="20439350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8367BD-450E-4CE5-82F7-0FB7460A9CF7}" type="datetimeFigureOut">
              <a:rPr lang="en-US" smtClean="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5A0A3E-D1DD-4F79-A9B8-39E484722478}" type="slidenum">
              <a:rPr lang="en-US" smtClean="0"/>
              <a:t>‹#›</a:t>
            </a:fld>
            <a:endParaRPr lang="en-US"/>
          </a:p>
        </p:txBody>
      </p:sp>
    </p:spTree>
    <p:extLst>
      <p:ext uri="{BB962C8B-B14F-4D97-AF65-F5344CB8AC3E}">
        <p14:creationId xmlns:p14="http://schemas.microsoft.com/office/powerpoint/2010/main" val="39636605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78367BD-450E-4CE5-82F7-0FB7460A9CF7}" type="datetimeFigureOut">
              <a:rPr lang="en-US" smtClean="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5A0A3E-D1DD-4F79-A9B8-39E484722478}" type="slidenum">
              <a:rPr lang="en-US" smtClean="0"/>
              <a:t>‹#›</a:t>
            </a:fld>
            <a:endParaRPr lang="en-US"/>
          </a:p>
        </p:txBody>
      </p:sp>
    </p:spTree>
    <p:extLst>
      <p:ext uri="{BB962C8B-B14F-4D97-AF65-F5344CB8AC3E}">
        <p14:creationId xmlns:p14="http://schemas.microsoft.com/office/powerpoint/2010/main" val="9070337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78367BD-450E-4CE5-82F7-0FB7460A9CF7}" type="datetimeFigureOut">
              <a:rPr lang="en-US" smtClean="0"/>
              <a:t>11/11/2025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F5A0A3E-D1DD-4F79-A9B8-39E484722478}" type="slidenum">
              <a:rPr lang="en-US" smtClean="0"/>
              <a:t>‹#›</a:t>
            </a:fld>
            <a:endParaRPr lang="en-US"/>
          </a:p>
        </p:txBody>
      </p:sp>
    </p:spTree>
    <p:extLst>
      <p:ext uri="{BB962C8B-B14F-4D97-AF65-F5344CB8AC3E}">
        <p14:creationId xmlns:p14="http://schemas.microsoft.com/office/powerpoint/2010/main" val="29993712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78367BD-450E-4CE5-82F7-0FB7460A9CF7}" type="datetimeFigureOut">
              <a:rPr lang="en-US" smtClean="0"/>
              <a:t>11/11/2025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F5A0A3E-D1DD-4F79-A9B8-39E484722478}" type="slidenum">
              <a:rPr lang="en-US" smtClean="0"/>
              <a:t>‹#›</a:t>
            </a:fld>
            <a:endParaRPr lang="en-US"/>
          </a:p>
        </p:txBody>
      </p:sp>
    </p:spTree>
    <p:extLst>
      <p:ext uri="{BB962C8B-B14F-4D97-AF65-F5344CB8AC3E}">
        <p14:creationId xmlns:p14="http://schemas.microsoft.com/office/powerpoint/2010/main" val="39860222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78367BD-450E-4CE5-82F7-0FB7460A9CF7}" type="datetimeFigureOut">
              <a:rPr lang="en-US" smtClean="0"/>
              <a:t>11/11/2025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F5A0A3E-D1DD-4F79-A9B8-39E484722478}" type="slidenum">
              <a:rPr lang="en-US" smtClean="0"/>
              <a:t>‹#›</a:t>
            </a:fld>
            <a:endParaRPr lang="en-US"/>
          </a:p>
        </p:txBody>
      </p:sp>
    </p:spTree>
    <p:extLst>
      <p:ext uri="{BB962C8B-B14F-4D97-AF65-F5344CB8AC3E}">
        <p14:creationId xmlns:p14="http://schemas.microsoft.com/office/powerpoint/2010/main" val="1094729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8367BD-450E-4CE5-82F7-0FB7460A9CF7}" type="datetimeFigureOut">
              <a:rPr lang="en-US" smtClean="0"/>
              <a:t>11/11/2025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F5A0A3E-D1DD-4F79-A9B8-39E484722478}" type="slidenum">
              <a:rPr lang="en-US" smtClean="0"/>
              <a:t>‹#›</a:t>
            </a:fld>
            <a:endParaRPr lang="en-US"/>
          </a:p>
        </p:txBody>
      </p:sp>
    </p:spTree>
    <p:extLst>
      <p:ext uri="{BB962C8B-B14F-4D97-AF65-F5344CB8AC3E}">
        <p14:creationId xmlns:p14="http://schemas.microsoft.com/office/powerpoint/2010/main" val="13054782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78367BD-450E-4CE5-82F7-0FB7460A9CF7}" type="datetimeFigureOut">
              <a:rPr lang="en-US" smtClean="0"/>
              <a:t>11/11/2025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F5A0A3E-D1DD-4F79-A9B8-39E484722478}" type="slidenum">
              <a:rPr lang="en-US" smtClean="0"/>
              <a:t>‹#›</a:t>
            </a:fld>
            <a:endParaRPr lang="en-US"/>
          </a:p>
        </p:txBody>
      </p:sp>
    </p:spTree>
    <p:extLst>
      <p:ext uri="{BB962C8B-B14F-4D97-AF65-F5344CB8AC3E}">
        <p14:creationId xmlns:p14="http://schemas.microsoft.com/office/powerpoint/2010/main" val="15915763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778367BD-450E-4CE5-82F7-0FB7460A9CF7}" type="datetimeFigureOut">
              <a:rPr lang="en-US" smtClean="0"/>
              <a:t>11/11/2025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F5A0A3E-D1DD-4F79-A9B8-39E484722478}" type="slidenum">
              <a:rPr lang="en-US" smtClean="0"/>
              <a:t>‹#›</a:t>
            </a:fld>
            <a:endParaRPr lang="en-US"/>
          </a:p>
        </p:txBody>
      </p:sp>
    </p:spTree>
    <p:extLst>
      <p:ext uri="{BB962C8B-B14F-4D97-AF65-F5344CB8AC3E}">
        <p14:creationId xmlns:p14="http://schemas.microsoft.com/office/powerpoint/2010/main" val="2440438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78367BD-450E-4CE5-82F7-0FB7460A9CF7}" type="datetimeFigureOut">
              <a:rPr lang="en-US" smtClean="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5A0A3E-D1DD-4F79-A9B8-39E484722478}" type="slidenum">
              <a:rPr lang="en-US" smtClean="0"/>
              <a:t>‹#›</a:t>
            </a:fld>
            <a:endParaRPr lang="en-US"/>
          </a:p>
        </p:txBody>
      </p:sp>
    </p:spTree>
    <p:extLst>
      <p:ext uri="{BB962C8B-B14F-4D97-AF65-F5344CB8AC3E}">
        <p14:creationId xmlns:p14="http://schemas.microsoft.com/office/powerpoint/2010/main" val="12124522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78367BD-450E-4CE5-82F7-0FB7460A9CF7}" type="datetimeFigureOut">
              <a:rPr lang="en-US" smtClean="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5A0A3E-D1DD-4F79-A9B8-39E484722478}"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8836657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78367BD-450E-4CE5-82F7-0FB7460A9CF7}" type="datetimeFigureOut">
              <a:rPr lang="en-US" smtClean="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5A0A3E-D1DD-4F79-A9B8-39E484722478}" type="slidenum">
              <a:rPr lang="en-US" smtClean="0"/>
              <a:t>‹#›</a:t>
            </a:fld>
            <a:endParaRPr lang="en-US"/>
          </a:p>
        </p:txBody>
      </p:sp>
    </p:spTree>
    <p:extLst>
      <p:ext uri="{BB962C8B-B14F-4D97-AF65-F5344CB8AC3E}">
        <p14:creationId xmlns:p14="http://schemas.microsoft.com/office/powerpoint/2010/main" val="30802624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78367BD-450E-4CE5-82F7-0FB7460A9CF7}" type="datetimeFigureOut">
              <a:rPr lang="en-US" smtClean="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5A0A3E-D1DD-4F79-A9B8-39E484722478}"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5161467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78367BD-450E-4CE5-82F7-0FB7460A9CF7}" type="datetimeFigureOut">
              <a:rPr lang="en-US" smtClean="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5A0A3E-D1DD-4F79-A9B8-39E484722478}" type="slidenum">
              <a:rPr lang="en-US" smtClean="0"/>
              <a:t>‹#›</a:t>
            </a:fld>
            <a:endParaRPr lang="en-US"/>
          </a:p>
        </p:txBody>
      </p:sp>
    </p:spTree>
    <p:extLst>
      <p:ext uri="{BB962C8B-B14F-4D97-AF65-F5344CB8AC3E}">
        <p14:creationId xmlns:p14="http://schemas.microsoft.com/office/powerpoint/2010/main" val="36442373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8367BD-450E-4CE5-82F7-0FB7460A9CF7}" type="datetimeFigureOut">
              <a:rPr lang="en-US" smtClean="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5A0A3E-D1DD-4F79-A9B8-39E484722478}" type="slidenum">
              <a:rPr lang="en-US" smtClean="0"/>
              <a:t>‹#›</a:t>
            </a:fld>
            <a:endParaRPr lang="en-US"/>
          </a:p>
        </p:txBody>
      </p:sp>
    </p:spTree>
    <p:extLst>
      <p:ext uri="{BB962C8B-B14F-4D97-AF65-F5344CB8AC3E}">
        <p14:creationId xmlns:p14="http://schemas.microsoft.com/office/powerpoint/2010/main" val="5986841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8367BD-450E-4CE5-82F7-0FB7460A9CF7}" type="datetimeFigureOut">
              <a:rPr lang="en-US" smtClean="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5A0A3E-D1DD-4F79-A9B8-39E484722478}" type="slidenum">
              <a:rPr lang="en-US" smtClean="0"/>
              <a:t>‹#›</a:t>
            </a:fld>
            <a:endParaRPr lang="en-US"/>
          </a:p>
        </p:txBody>
      </p:sp>
    </p:spTree>
    <p:extLst>
      <p:ext uri="{BB962C8B-B14F-4D97-AF65-F5344CB8AC3E}">
        <p14:creationId xmlns:p14="http://schemas.microsoft.com/office/powerpoint/2010/main" val="28621275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78367BD-450E-4CE5-82F7-0FB7460A9CF7}" type="datetimeFigureOut">
              <a:rPr lang="en-US" smtClean="0"/>
              <a:t>11/11/2025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3F5A0A3E-D1DD-4F79-A9B8-39E484722478}" type="slidenum">
              <a:rPr lang="en-US" smtClean="0"/>
              <a:t>‹#›</a:t>
            </a:fld>
            <a:endParaRPr lang="en-US"/>
          </a:p>
        </p:txBody>
      </p:sp>
    </p:spTree>
    <p:extLst>
      <p:ext uri="{BB962C8B-B14F-4D97-AF65-F5344CB8AC3E}">
        <p14:creationId xmlns:p14="http://schemas.microsoft.com/office/powerpoint/2010/main" val="831532031"/>
      </p:ext>
    </p:extLst>
  </p:cSld>
  <p:clrMap bg1="dk1" tx1="lt1" bg2="dk2" tx2="lt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 id="2147483743" r:id="rId12"/>
    <p:sldLayoutId id="2147483744" r:id="rId13"/>
    <p:sldLayoutId id="2147483745" r:id="rId14"/>
    <p:sldLayoutId id="2147483746" r:id="rId15"/>
    <p:sldLayoutId id="2147483747"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708E6E-2804-4133-BEE1-5BF29EAFE626}"/>
              </a:ext>
            </a:extLst>
          </p:cNvPr>
          <p:cNvSpPr>
            <a:spLocks noGrp="1"/>
          </p:cNvSpPr>
          <p:nvPr>
            <p:ph type="ctrTitle"/>
          </p:nvPr>
        </p:nvSpPr>
        <p:spPr>
          <a:xfrm>
            <a:off x="1507067" y="623420"/>
            <a:ext cx="7766936" cy="1646302"/>
          </a:xfrm>
        </p:spPr>
        <p:txBody>
          <a:bodyPr/>
          <a:lstStyle/>
          <a:p>
            <a:r>
              <a:rPr lang="en-US" dirty="0"/>
              <a:t>Tic Tac Toe Game in      C-Language</a:t>
            </a:r>
          </a:p>
        </p:txBody>
      </p:sp>
      <p:sp>
        <p:nvSpPr>
          <p:cNvPr id="3" name="Subtitle 2">
            <a:extLst>
              <a:ext uri="{FF2B5EF4-FFF2-40B4-BE49-F238E27FC236}">
                <a16:creationId xmlns:a16="http://schemas.microsoft.com/office/drawing/2014/main" id="{BE30A966-AF5F-4E6A-B5B9-C423183A74A0}"/>
              </a:ext>
            </a:extLst>
          </p:cNvPr>
          <p:cNvSpPr>
            <a:spLocks noGrp="1"/>
          </p:cNvSpPr>
          <p:nvPr>
            <p:ph type="subTitle" idx="1"/>
          </p:nvPr>
        </p:nvSpPr>
        <p:spPr>
          <a:xfrm>
            <a:off x="5256356" y="4777408"/>
            <a:ext cx="3714290" cy="1646302"/>
          </a:xfrm>
        </p:spPr>
        <p:txBody>
          <a:bodyPr>
            <a:normAutofit/>
          </a:bodyPr>
          <a:lstStyle/>
          <a:p>
            <a:pPr algn="l"/>
            <a:r>
              <a:rPr lang="en-US" dirty="0" smtClean="0"/>
              <a:t>Members:</a:t>
            </a:r>
            <a:endParaRPr lang="en-US" dirty="0"/>
          </a:p>
          <a:p>
            <a:pPr marL="285750" indent="-285750" algn="l">
              <a:buFont typeface="Arial" panose="020B0604020202020204" pitchFamily="34" charset="0"/>
              <a:buChar char="•"/>
            </a:pPr>
            <a:r>
              <a:rPr lang="en-US" dirty="0"/>
              <a:t>Taha Ahmed Mallick CT-183</a:t>
            </a:r>
          </a:p>
          <a:p>
            <a:pPr marL="285750" indent="-285750" algn="l">
              <a:buFont typeface="Arial" panose="020B0604020202020204" pitchFamily="34" charset="0"/>
              <a:buChar char="•"/>
            </a:pPr>
            <a:r>
              <a:rPr lang="en-US" dirty="0"/>
              <a:t>Abdul Raheem Sheikh CT-192</a:t>
            </a:r>
          </a:p>
          <a:p>
            <a:pPr marL="285750" indent="-285750" algn="l">
              <a:buFont typeface="Arial" panose="020B0604020202020204" pitchFamily="34" charset="0"/>
              <a:buChar char="•"/>
            </a:pPr>
            <a:r>
              <a:rPr lang="en-US" dirty="0" err="1"/>
              <a:t>Maryum</a:t>
            </a:r>
            <a:r>
              <a:rPr lang="en-US" dirty="0"/>
              <a:t> </a:t>
            </a:r>
            <a:r>
              <a:rPr lang="en-US" dirty="0" err="1"/>
              <a:t>Mairaj</a:t>
            </a:r>
            <a:r>
              <a:rPr lang="en-US" dirty="0"/>
              <a:t> CT-170</a:t>
            </a:r>
          </a:p>
        </p:txBody>
      </p:sp>
      <p:sp>
        <p:nvSpPr>
          <p:cNvPr id="4" name="TextBox 3">
            <a:extLst>
              <a:ext uri="{FF2B5EF4-FFF2-40B4-BE49-F238E27FC236}">
                <a16:creationId xmlns:a16="http://schemas.microsoft.com/office/drawing/2014/main" id="{B8915818-7898-459E-A82F-A07D7C9A4D44}"/>
              </a:ext>
            </a:extLst>
          </p:cNvPr>
          <p:cNvSpPr txBox="1"/>
          <p:nvPr/>
        </p:nvSpPr>
        <p:spPr>
          <a:xfrm>
            <a:off x="5256356" y="4346716"/>
            <a:ext cx="4527724" cy="400110"/>
          </a:xfrm>
          <a:prstGeom prst="rect">
            <a:avLst/>
          </a:prstGeom>
          <a:noFill/>
        </p:spPr>
        <p:txBody>
          <a:bodyPr wrap="square" rtlCol="0">
            <a:spAutoFit/>
          </a:bodyPr>
          <a:lstStyle/>
          <a:p>
            <a:r>
              <a:rPr lang="en-US" sz="2000" b="1" dirty="0">
                <a:ln w="0"/>
                <a:solidFill>
                  <a:schemeClr val="accent1"/>
                </a:solidFill>
                <a:effectLst>
                  <a:outerShdw blurRad="38100" dist="25400" dir="5400000" algn="ctr" rotWithShape="0">
                    <a:srgbClr val="6E747A">
                      <a:alpha val="43000"/>
                    </a:srgbClr>
                  </a:outerShdw>
                </a:effectLst>
              </a:rPr>
              <a:t>Team </a:t>
            </a:r>
            <a:r>
              <a:rPr lang="en-US" sz="2000" b="1" dirty="0" smtClean="0">
                <a:ln w="0"/>
                <a:solidFill>
                  <a:schemeClr val="accent1"/>
                </a:solidFill>
                <a:effectLst>
                  <a:outerShdw blurRad="38100" dist="25400" dir="5400000" algn="ctr" rotWithShape="0">
                    <a:srgbClr val="6E747A">
                      <a:alpha val="43000"/>
                    </a:srgbClr>
                  </a:outerShdw>
                </a:effectLst>
              </a:rPr>
              <a:t>Name: Quantum Coders</a:t>
            </a:r>
            <a:endParaRPr lang="en-US" sz="2000" b="1" dirty="0">
              <a:ln w="0"/>
              <a:solidFill>
                <a:schemeClr val="accent1"/>
              </a:solidFill>
              <a:effectLst>
                <a:outerShdw blurRad="38100" dist="25400" dir="5400000" algn="ctr" rotWithShape="0">
                  <a:srgbClr val="6E747A">
                    <a:alpha val="43000"/>
                  </a:srgbClr>
                </a:outerShdw>
              </a:effectLst>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9012" y="2269722"/>
            <a:ext cx="4153988" cy="4153988"/>
          </a:xfrm>
          <a:prstGeom prst="rect">
            <a:avLst/>
          </a:prstGeom>
        </p:spPr>
      </p:pic>
    </p:spTree>
    <p:extLst>
      <p:ext uri="{BB962C8B-B14F-4D97-AF65-F5344CB8AC3E}">
        <p14:creationId xmlns:p14="http://schemas.microsoft.com/office/powerpoint/2010/main" val="6245318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2E488-52ED-47CD-B9C3-197DCFEE5672}"/>
              </a:ext>
            </a:extLst>
          </p:cNvPr>
          <p:cNvSpPr>
            <a:spLocks noGrp="1"/>
          </p:cNvSpPr>
          <p:nvPr>
            <p:ph type="title"/>
          </p:nvPr>
        </p:nvSpPr>
        <p:spPr/>
        <p:txBody>
          <a:bodyPr/>
          <a:lstStyle/>
          <a:p>
            <a:r>
              <a:rPr lang="en-US" dirty="0" smtClean="0"/>
              <a:t/>
            </a:r>
            <a:br>
              <a:rPr lang="en-US" dirty="0" smtClean="0"/>
            </a:br>
            <a:r>
              <a:rPr lang="en-US" dirty="0" smtClean="0"/>
              <a:t>Introduction</a:t>
            </a:r>
            <a:endParaRPr lang="en-US" dirty="0"/>
          </a:p>
        </p:txBody>
      </p:sp>
      <p:sp>
        <p:nvSpPr>
          <p:cNvPr id="3" name="Content Placeholder 2">
            <a:extLst>
              <a:ext uri="{FF2B5EF4-FFF2-40B4-BE49-F238E27FC236}">
                <a16:creationId xmlns:a16="http://schemas.microsoft.com/office/drawing/2014/main" id="{A8DF5C9E-C13F-4AD3-A88F-7DDA6DD0E252}"/>
              </a:ext>
            </a:extLst>
          </p:cNvPr>
          <p:cNvSpPr>
            <a:spLocks noGrp="1"/>
          </p:cNvSpPr>
          <p:nvPr>
            <p:ph idx="1"/>
          </p:nvPr>
        </p:nvSpPr>
        <p:spPr/>
        <p:txBody>
          <a:bodyPr/>
          <a:lstStyle/>
          <a:p>
            <a:pPr marL="0" indent="0">
              <a:buNone/>
            </a:pPr>
            <a:r>
              <a:rPr lang="en-US" sz="2800" dirty="0"/>
              <a:t>This project is a simple Tic Tac Toe game written in the C language. It allows two players to take turns marking spaces on a 3×3 grid with ‘X’ and ‘O’. The goal is to form a line horizontally, vertically, or diagonally. The program displays the board after each move and checks for a winner or a draw. It uses concepts like arrays, loops, conditional statements, and user input to control the game.</a:t>
            </a:r>
          </a:p>
          <a:p>
            <a:pPr marL="0" indent="0">
              <a:buNone/>
            </a:pPr>
            <a:endParaRPr lang="en-US" dirty="0"/>
          </a:p>
        </p:txBody>
      </p:sp>
    </p:spTree>
    <p:extLst>
      <p:ext uri="{BB962C8B-B14F-4D97-AF65-F5344CB8AC3E}">
        <p14:creationId xmlns:p14="http://schemas.microsoft.com/office/powerpoint/2010/main" val="30288769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50776-6709-48C3-B468-83F0B27F40F7}"/>
              </a:ext>
            </a:extLst>
          </p:cNvPr>
          <p:cNvSpPr>
            <a:spLocks noGrp="1"/>
          </p:cNvSpPr>
          <p:nvPr>
            <p:ph type="title"/>
          </p:nvPr>
        </p:nvSpPr>
        <p:spPr/>
        <p:txBody>
          <a:bodyPr/>
          <a:lstStyle/>
          <a:p>
            <a:r>
              <a:rPr lang="en-US" dirty="0" smtClean="0"/>
              <a:t/>
            </a:r>
            <a:br>
              <a:rPr lang="en-US" dirty="0" smtClean="0"/>
            </a:br>
            <a:r>
              <a:rPr lang="en-US" dirty="0" smtClean="0"/>
              <a:t>Step </a:t>
            </a:r>
            <a:r>
              <a:rPr lang="en-US" dirty="0"/>
              <a:t>1 – Code Setup</a:t>
            </a:r>
          </a:p>
        </p:txBody>
      </p:sp>
      <p:sp>
        <p:nvSpPr>
          <p:cNvPr id="3" name="Content Placeholder 2">
            <a:extLst>
              <a:ext uri="{FF2B5EF4-FFF2-40B4-BE49-F238E27FC236}">
                <a16:creationId xmlns:a16="http://schemas.microsoft.com/office/drawing/2014/main" id="{9694351B-C0E1-409E-8364-5700467997F9}"/>
              </a:ext>
            </a:extLst>
          </p:cNvPr>
          <p:cNvSpPr>
            <a:spLocks noGrp="1"/>
          </p:cNvSpPr>
          <p:nvPr>
            <p:ph idx="1"/>
          </p:nvPr>
        </p:nvSpPr>
        <p:spPr>
          <a:xfrm>
            <a:off x="584000" y="2165531"/>
            <a:ext cx="8596668" cy="3880773"/>
          </a:xfrm>
        </p:spPr>
        <p:txBody>
          <a:bodyPr/>
          <a:lstStyle/>
          <a:p>
            <a:pPr marL="0" indent="0">
              <a:lnSpc>
                <a:spcPct val="150000"/>
              </a:lnSpc>
              <a:buNone/>
            </a:pPr>
            <a:r>
              <a:rPr lang="en-US" dirty="0"/>
              <a:t>At the beginning, the </a:t>
            </a:r>
            <a:r>
              <a:rPr lang="en-US" dirty="0" err="1"/>
              <a:t>stdio.h</a:t>
            </a:r>
            <a:r>
              <a:rPr lang="en-US" dirty="0"/>
              <a:t> header file is included to use functions like </a:t>
            </a:r>
            <a:r>
              <a:rPr lang="en-US" dirty="0" err="1"/>
              <a:t>printf</a:t>
            </a:r>
            <a:r>
              <a:rPr lang="en-US" dirty="0"/>
              <a:t>() and </a:t>
            </a:r>
            <a:r>
              <a:rPr lang="en-US" dirty="0" err="1"/>
              <a:t>scanf</a:t>
            </a:r>
            <a:r>
              <a:rPr lang="en-US" dirty="0"/>
              <a:t>() for input and output. Then </a:t>
            </a:r>
            <a:r>
              <a:rPr lang="en-US" dirty="0" err="1"/>
              <a:t>stdlib.h</a:t>
            </a:r>
            <a:r>
              <a:rPr lang="en-US" dirty="0"/>
              <a:t> is included for the system() function, using which we clear the screen. Then </a:t>
            </a:r>
            <a:r>
              <a:rPr lang="en-US" dirty="0" err="1"/>
              <a:t>windows.h</a:t>
            </a:r>
            <a:r>
              <a:rPr lang="en-US" dirty="0"/>
              <a:t> library is only included when it detects it is a windows machine, we use this library to set windows console to UTF-8 encoding so that grid can be presented neatly which is made up of Unicode characters. The array board[9] stores the game cells, each cell labeled 1 to 9. These numbers are replaced by ‘X’ or ‘O’ when players make their moves. Other arrays store winning patterns to check for results later in the program. This setup forms the base structure of the game.</a:t>
            </a:r>
          </a:p>
          <a:p>
            <a:pPr marL="0" indent="0">
              <a:lnSpc>
                <a:spcPct val="150000"/>
              </a:lnSpc>
              <a:buNone/>
            </a:pPr>
            <a:endParaRPr lang="en-US" dirty="0"/>
          </a:p>
        </p:txBody>
      </p:sp>
    </p:spTree>
    <p:extLst>
      <p:ext uri="{BB962C8B-B14F-4D97-AF65-F5344CB8AC3E}">
        <p14:creationId xmlns:p14="http://schemas.microsoft.com/office/powerpoint/2010/main" val="23657483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370F8-578C-4750-AA14-88D03FC0C1FE}"/>
              </a:ext>
            </a:extLst>
          </p:cNvPr>
          <p:cNvSpPr>
            <a:spLocks noGrp="1"/>
          </p:cNvSpPr>
          <p:nvPr>
            <p:ph type="title"/>
          </p:nvPr>
        </p:nvSpPr>
        <p:spPr/>
        <p:txBody>
          <a:bodyPr/>
          <a:lstStyle/>
          <a:p>
            <a:r>
              <a:rPr lang="en-US" dirty="0" smtClean="0"/>
              <a:t/>
            </a:r>
            <a:br>
              <a:rPr lang="en-US" dirty="0" smtClean="0"/>
            </a:br>
            <a:r>
              <a:rPr lang="en-US" dirty="0" smtClean="0"/>
              <a:t>Step </a:t>
            </a:r>
            <a:r>
              <a:rPr lang="en-US" dirty="0"/>
              <a:t>2 – Main Function Flow</a:t>
            </a:r>
          </a:p>
        </p:txBody>
      </p:sp>
      <p:sp>
        <p:nvSpPr>
          <p:cNvPr id="3" name="Content Placeholder 2">
            <a:extLst>
              <a:ext uri="{FF2B5EF4-FFF2-40B4-BE49-F238E27FC236}">
                <a16:creationId xmlns:a16="http://schemas.microsoft.com/office/drawing/2014/main" id="{8AD5EB14-068C-4EB6-BA33-50D3D6E9EE42}"/>
              </a:ext>
            </a:extLst>
          </p:cNvPr>
          <p:cNvSpPr>
            <a:spLocks noGrp="1"/>
          </p:cNvSpPr>
          <p:nvPr>
            <p:ph idx="1"/>
          </p:nvPr>
        </p:nvSpPr>
        <p:spPr/>
        <p:txBody>
          <a:bodyPr/>
          <a:lstStyle/>
          <a:p>
            <a:pPr marL="0" indent="0">
              <a:lnSpc>
                <a:spcPct val="150000"/>
              </a:lnSpc>
              <a:buNone/>
            </a:pPr>
            <a:r>
              <a:rPr lang="en-US" dirty="0"/>
              <a:t>The main function controls the overall game flow. The variable player tracks whose turn it is, and mark holds either ‘X’ or ‘O’; corresponding to the player. The while(1) loop runs infinitely until the game ends. Each time, the board is printed using </a:t>
            </a:r>
            <a:r>
              <a:rPr lang="en-US" dirty="0" err="1"/>
              <a:t>print_board</a:t>
            </a:r>
            <a:r>
              <a:rPr lang="en-US" dirty="0"/>
              <a:t>(), and the player enters their move. If the input is valid then that box is marked otherwise a flag is raised and using continue statements same player is asked to input his position again, until done correctly.</a:t>
            </a:r>
          </a:p>
          <a:p>
            <a:pPr marL="0" indent="0">
              <a:buNone/>
            </a:pPr>
            <a:endParaRPr lang="en-US" dirty="0"/>
          </a:p>
        </p:txBody>
      </p:sp>
    </p:spTree>
    <p:extLst>
      <p:ext uri="{BB962C8B-B14F-4D97-AF65-F5344CB8AC3E}">
        <p14:creationId xmlns:p14="http://schemas.microsoft.com/office/powerpoint/2010/main" val="29058313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D0467-A6D7-49FC-AAD8-1BFFC4B5A7C0}"/>
              </a:ext>
            </a:extLst>
          </p:cNvPr>
          <p:cNvSpPr>
            <a:spLocks noGrp="1"/>
          </p:cNvSpPr>
          <p:nvPr>
            <p:ph type="title"/>
          </p:nvPr>
        </p:nvSpPr>
        <p:spPr/>
        <p:txBody>
          <a:bodyPr/>
          <a:lstStyle/>
          <a:p>
            <a:r>
              <a:rPr lang="en-US" dirty="0" smtClean="0"/>
              <a:t/>
            </a:r>
            <a:br>
              <a:rPr lang="en-US" dirty="0" smtClean="0"/>
            </a:br>
            <a:r>
              <a:rPr lang="en-US" dirty="0" smtClean="0"/>
              <a:t>Step </a:t>
            </a:r>
            <a:r>
              <a:rPr lang="en-US" dirty="0"/>
              <a:t>3 – Marking and Checking for Win</a:t>
            </a:r>
          </a:p>
        </p:txBody>
      </p:sp>
      <p:sp>
        <p:nvSpPr>
          <p:cNvPr id="3" name="Content Placeholder 2">
            <a:extLst>
              <a:ext uri="{FF2B5EF4-FFF2-40B4-BE49-F238E27FC236}">
                <a16:creationId xmlns:a16="http://schemas.microsoft.com/office/drawing/2014/main" id="{64F1D4E9-2D8B-4945-8AC7-420EB89BBF75}"/>
              </a:ext>
            </a:extLst>
          </p:cNvPr>
          <p:cNvSpPr>
            <a:spLocks noGrp="1"/>
          </p:cNvSpPr>
          <p:nvPr>
            <p:ph idx="1"/>
          </p:nvPr>
        </p:nvSpPr>
        <p:spPr/>
        <p:txBody>
          <a:bodyPr/>
          <a:lstStyle/>
          <a:p>
            <a:pPr marL="0" indent="0">
              <a:lnSpc>
                <a:spcPct val="150000"/>
              </a:lnSpc>
              <a:buNone/>
            </a:pPr>
            <a:r>
              <a:rPr lang="en-US" dirty="0"/>
              <a:t>Once the player chooses a valid box, that cell in the array is updated with their mark. Then the program calls </a:t>
            </a:r>
            <a:r>
              <a:rPr lang="en-US" dirty="0" err="1"/>
              <a:t>check_win</a:t>
            </a:r>
            <a:r>
              <a:rPr lang="en-US" dirty="0"/>
              <a:t>() to see if the current move completes any winning line. If yes, the game ends showing a winner message. If all boxes are filled without a winner, the game is declared a draw. This part is where the game logic works to decide the result.</a:t>
            </a:r>
          </a:p>
          <a:p>
            <a:pPr marL="0" indent="0">
              <a:buNone/>
            </a:pPr>
            <a:endParaRPr lang="en-US" dirty="0"/>
          </a:p>
        </p:txBody>
      </p:sp>
    </p:spTree>
    <p:extLst>
      <p:ext uri="{BB962C8B-B14F-4D97-AF65-F5344CB8AC3E}">
        <p14:creationId xmlns:p14="http://schemas.microsoft.com/office/powerpoint/2010/main" val="5958450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D5357-BFC7-48B8-ACD6-1D5958669952}"/>
              </a:ext>
            </a:extLst>
          </p:cNvPr>
          <p:cNvSpPr>
            <a:spLocks noGrp="1"/>
          </p:cNvSpPr>
          <p:nvPr>
            <p:ph type="title"/>
          </p:nvPr>
        </p:nvSpPr>
        <p:spPr/>
        <p:txBody>
          <a:bodyPr/>
          <a:lstStyle/>
          <a:p>
            <a:r>
              <a:rPr lang="en-US" dirty="0"/>
              <a:t>Functions in our programs…</a:t>
            </a:r>
          </a:p>
        </p:txBody>
      </p:sp>
      <p:sp>
        <p:nvSpPr>
          <p:cNvPr id="3" name="Text Placeholder 2">
            <a:extLst>
              <a:ext uri="{FF2B5EF4-FFF2-40B4-BE49-F238E27FC236}">
                <a16:creationId xmlns:a16="http://schemas.microsoft.com/office/drawing/2014/main" id="{01A01E78-C6FD-43C7-AEC2-433E1CD28073}"/>
              </a:ext>
            </a:extLst>
          </p:cNvPr>
          <p:cNvSpPr>
            <a:spLocks noGrp="1"/>
          </p:cNvSpPr>
          <p:nvPr>
            <p:ph type="body" idx="1"/>
          </p:nvPr>
        </p:nvSpPr>
        <p:spPr>
          <a:xfrm>
            <a:off x="677335" y="3024777"/>
            <a:ext cx="8596668" cy="1570962"/>
          </a:xfrm>
        </p:spPr>
        <p:txBody>
          <a:bodyPr>
            <a:normAutofit/>
          </a:bodyPr>
          <a:lstStyle/>
          <a:p>
            <a:pPr marL="285750" indent="-285750">
              <a:buFont typeface="Wingdings" panose="05000000000000000000" pitchFamily="2" charset="2"/>
              <a:buChar char="v"/>
            </a:pPr>
            <a:r>
              <a:rPr lang="en-US" sz="2000" dirty="0" err="1"/>
              <a:t>print_board</a:t>
            </a:r>
            <a:r>
              <a:rPr lang="en-US" sz="2000" dirty="0"/>
              <a:t>()</a:t>
            </a:r>
          </a:p>
          <a:p>
            <a:pPr marL="285750" indent="-285750">
              <a:buFont typeface="Wingdings" panose="05000000000000000000" pitchFamily="2" charset="2"/>
              <a:buChar char="v"/>
            </a:pPr>
            <a:r>
              <a:rPr lang="en-US" sz="2000" dirty="0" err="1"/>
              <a:t>check_win</a:t>
            </a:r>
            <a:r>
              <a:rPr lang="en-US" sz="2000" dirty="0"/>
              <a:t>()</a:t>
            </a:r>
          </a:p>
        </p:txBody>
      </p:sp>
    </p:spTree>
    <p:extLst>
      <p:ext uri="{BB962C8B-B14F-4D97-AF65-F5344CB8AC3E}">
        <p14:creationId xmlns:p14="http://schemas.microsoft.com/office/powerpoint/2010/main" val="22621425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0F95B-51D0-4EFC-B6B5-D577481C3424}"/>
              </a:ext>
            </a:extLst>
          </p:cNvPr>
          <p:cNvSpPr>
            <a:spLocks noGrp="1"/>
          </p:cNvSpPr>
          <p:nvPr>
            <p:ph type="title"/>
          </p:nvPr>
        </p:nvSpPr>
        <p:spPr/>
        <p:txBody>
          <a:bodyPr/>
          <a:lstStyle/>
          <a:p>
            <a:r>
              <a:rPr lang="en-US" dirty="0" smtClean="0"/>
              <a:t/>
            </a:r>
            <a:br>
              <a:rPr lang="en-US" dirty="0" smtClean="0"/>
            </a:br>
            <a:r>
              <a:rPr lang="en-US" dirty="0" smtClean="0"/>
              <a:t>Display </a:t>
            </a:r>
            <a:r>
              <a:rPr lang="en-US" dirty="0"/>
              <a:t>Board Function</a:t>
            </a:r>
          </a:p>
        </p:txBody>
      </p:sp>
      <p:sp>
        <p:nvSpPr>
          <p:cNvPr id="3" name="Content Placeholder 2">
            <a:extLst>
              <a:ext uri="{FF2B5EF4-FFF2-40B4-BE49-F238E27FC236}">
                <a16:creationId xmlns:a16="http://schemas.microsoft.com/office/drawing/2014/main" id="{F3354EEA-EBEF-47B0-A6CA-2A90F65C6D16}"/>
              </a:ext>
            </a:extLst>
          </p:cNvPr>
          <p:cNvSpPr>
            <a:spLocks noGrp="1"/>
          </p:cNvSpPr>
          <p:nvPr>
            <p:ph idx="1"/>
          </p:nvPr>
        </p:nvSpPr>
        <p:spPr/>
        <p:txBody>
          <a:bodyPr/>
          <a:lstStyle/>
          <a:p>
            <a:pPr marL="0" indent="0">
              <a:lnSpc>
                <a:spcPct val="150000"/>
              </a:lnSpc>
              <a:buNone/>
            </a:pPr>
            <a:r>
              <a:rPr lang="en-US" dirty="0"/>
              <a:t>This function is responsible for displaying the 3×3 grid to the players. It clears the screen and prints the board after every move and uses colors to make it visually clear which boxes are marked by which player. If a player wins, it highlights the winning line. This function keeps the players informed about the game’s status. It uses loops to efficiently print the board and marks X as red and O as green, while if a winning pattern is found then it colors it with blue.</a:t>
            </a:r>
            <a:endParaRPr lang="en-US" dirty="0"/>
          </a:p>
        </p:txBody>
      </p:sp>
    </p:spTree>
    <p:extLst>
      <p:ext uri="{BB962C8B-B14F-4D97-AF65-F5344CB8AC3E}">
        <p14:creationId xmlns:p14="http://schemas.microsoft.com/office/powerpoint/2010/main" val="31211156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D3280-5BF8-4028-B595-23E8B3F1349E}"/>
              </a:ext>
            </a:extLst>
          </p:cNvPr>
          <p:cNvSpPr>
            <a:spLocks noGrp="1"/>
          </p:cNvSpPr>
          <p:nvPr>
            <p:ph type="title"/>
          </p:nvPr>
        </p:nvSpPr>
        <p:spPr/>
        <p:txBody>
          <a:bodyPr/>
          <a:lstStyle/>
          <a:p>
            <a:r>
              <a:rPr lang="en-US" dirty="0" smtClean="0"/>
              <a:t/>
            </a:r>
            <a:br>
              <a:rPr lang="en-US" dirty="0" smtClean="0"/>
            </a:br>
            <a:r>
              <a:rPr lang="en-US" dirty="0" smtClean="0"/>
              <a:t>Win </a:t>
            </a:r>
            <a:r>
              <a:rPr lang="en-US" dirty="0"/>
              <a:t>Checker</a:t>
            </a:r>
          </a:p>
        </p:txBody>
      </p:sp>
      <p:sp>
        <p:nvSpPr>
          <p:cNvPr id="3" name="Content Placeholder 2">
            <a:extLst>
              <a:ext uri="{FF2B5EF4-FFF2-40B4-BE49-F238E27FC236}">
                <a16:creationId xmlns:a16="http://schemas.microsoft.com/office/drawing/2014/main" id="{6ACBA18A-E044-4DCF-9EC3-3B9E3BEEA12A}"/>
              </a:ext>
            </a:extLst>
          </p:cNvPr>
          <p:cNvSpPr>
            <a:spLocks noGrp="1"/>
          </p:cNvSpPr>
          <p:nvPr>
            <p:ph idx="1"/>
          </p:nvPr>
        </p:nvSpPr>
        <p:spPr/>
        <p:txBody>
          <a:bodyPr/>
          <a:lstStyle/>
          <a:p>
            <a:pPr marL="0" indent="0">
              <a:lnSpc>
                <a:spcPct val="150000"/>
              </a:lnSpc>
              <a:buNone/>
            </a:pPr>
            <a:r>
              <a:rPr lang="en-US" dirty="0"/>
              <a:t>This function checks all 8 possible winning combinations: three rows, three columns, and two diagonals. It compares the symbols in each line to see if they are the same. If yes, it returns 1, meaning a win. If the board is full and no winner is found, it returns -1 for a draw. Otherwise, it returns 0 to continue as normal. It makes the use of arrays and loops to efficiently loop through all the winning combinations.</a:t>
            </a:r>
            <a:endParaRPr lang="en-US" dirty="0"/>
          </a:p>
        </p:txBody>
      </p:sp>
    </p:spTree>
    <p:extLst>
      <p:ext uri="{BB962C8B-B14F-4D97-AF65-F5344CB8AC3E}">
        <p14:creationId xmlns:p14="http://schemas.microsoft.com/office/powerpoint/2010/main" val="33732248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9236" y="933179"/>
            <a:ext cx="8596668" cy="1320800"/>
          </a:xfrm>
        </p:spPr>
        <p:txBody>
          <a:bodyPr>
            <a:normAutofit/>
          </a:bodyPr>
          <a:lstStyle/>
          <a:p>
            <a:r>
              <a:rPr lang="en-US" b="1" dirty="0" smtClean="0"/>
              <a:t>Sample </a:t>
            </a:r>
            <a:r>
              <a:rPr lang="en-US" b="1" dirty="0"/>
              <a:t>Output </a:t>
            </a:r>
            <a:r>
              <a:rPr lang="en-US" dirty="0"/>
              <a:t/>
            </a:r>
            <a:br>
              <a:rPr lang="en-US" dirty="0"/>
            </a:br>
            <a:endParaRPr lang="en-US" dirty="0"/>
          </a:p>
        </p:txBody>
      </p:sp>
      <p:sp>
        <p:nvSpPr>
          <p:cNvPr id="3" name="Content Placeholder 2"/>
          <p:cNvSpPr>
            <a:spLocks noGrp="1"/>
          </p:cNvSpPr>
          <p:nvPr>
            <p:ph idx="1"/>
          </p:nvPr>
        </p:nvSpPr>
        <p:spPr>
          <a:xfrm>
            <a:off x="677333" y="1319349"/>
            <a:ext cx="9707637" cy="4976947"/>
          </a:xfrm>
        </p:spPr>
        <p:txBody>
          <a:bodyPr>
            <a:normAutofit/>
          </a:bodyPr>
          <a:lstStyle/>
          <a:p>
            <a:pPr marL="0" indent="0">
              <a:buNone/>
            </a:pPr>
            <a:r>
              <a:rPr lang="en-US" dirty="0" smtClean="0"/>
              <a:t>   </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430" y="2387600"/>
            <a:ext cx="3562350" cy="2657475"/>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96722" y="2387600"/>
            <a:ext cx="3209925" cy="2800350"/>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08942" y="2387600"/>
            <a:ext cx="2524125" cy="3114675"/>
          </a:xfrm>
          <a:prstGeom prst="rect">
            <a:avLst/>
          </a:prstGeom>
        </p:spPr>
      </p:pic>
    </p:spTree>
    <p:extLst>
      <p:ext uri="{BB962C8B-B14F-4D97-AF65-F5344CB8AC3E}">
        <p14:creationId xmlns:p14="http://schemas.microsoft.com/office/powerpoint/2010/main" val="34378700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b="1" dirty="0" smtClean="0"/>
              <a:t/>
            </a:r>
            <a:br>
              <a:rPr lang="en-US" b="1" dirty="0" smtClean="0"/>
            </a:br>
            <a:r>
              <a:rPr lang="en-US" b="1" dirty="0" smtClean="0"/>
              <a:t>Difficulties </a:t>
            </a:r>
            <a:r>
              <a:rPr lang="en-US" b="1" dirty="0"/>
              <a:t>Faced and Their Resolutions</a:t>
            </a:r>
            <a:r>
              <a:rPr lang="en-US" dirty="0"/>
              <a:t/>
            </a:r>
            <a:br>
              <a:rPr lang="en-US" dirty="0"/>
            </a:br>
            <a:endParaRPr lang="en-US" dirty="0"/>
          </a:p>
        </p:txBody>
      </p:sp>
      <p:sp>
        <p:nvSpPr>
          <p:cNvPr id="3" name="Content Placeholder 2"/>
          <p:cNvSpPr>
            <a:spLocks noGrp="1"/>
          </p:cNvSpPr>
          <p:nvPr>
            <p:ph idx="1"/>
          </p:nvPr>
        </p:nvSpPr>
        <p:spPr>
          <a:xfrm>
            <a:off x="677334" y="2500223"/>
            <a:ext cx="8596668" cy="3880773"/>
          </a:xfrm>
        </p:spPr>
        <p:txBody>
          <a:bodyPr/>
          <a:lstStyle/>
          <a:p>
            <a:pPr marL="0" indent="0">
              <a:lnSpc>
                <a:spcPct val="150000"/>
              </a:lnSpc>
              <a:buNone/>
            </a:pPr>
            <a:r>
              <a:rPr lang="en-US" dirty="0"/>
              <a:t>Throughout the development of the </a:t>
            </a:r>
            <a:r>
              <a:rPr lang="en-US" b="1" dirty="0"/>
              <a:t>Tic Tac Toe Game in C</a:t>
            </a:r>
            <a:r>
              <a:rPr lang="en-US" dirty="0"/>
              <a:t>, several challenges were encountered that tested both logic and debugging skills. Each issue provided an opportunity to understand the inner workings of C programming more deeply and strengthen the overall structure of the project. The following sections describe the key problems faced, their causes, and how they were effectively resolved.</a:t>
            </a:r>
          </a:p>
          <a:p>
            <a:pPr>
              <a:lnSpc>
                <a:spcPct val="150000"/>
              </a:lnSpc>
            </a:pPr>
            <a:endParaRPr lang="en-US" dirty="0"/>
          </a:p>
        </p:txBody>
      </p:sp>
    </p:spTree>
    <p:extLst>
      <p:ext uri="{BB962C8B-B14F-4D97-AF65-F5344CB8AC3E}">
        <p14:creationId xmlns:p14="http://schemas.microsoft.com/office/powerpoint/2010/main" val="7155305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1.Input </a:t>
            </a:r>
            <a:r>
              <a:rPr lang="en-US" b="1" dirty="0"/>
              <a:t>Validation Errors</a:t>
            </a:r>
            <a:endParaRPr lang="en-US" dirty="0"/>
          </a:p>
        </p:txBody>
      </p:sp>
      <p:sp>
        <p:nvSpPr>
          <p:cNvPr id="3" name="Content Placeholder 2"/>
          <p:cNvSpPr>
            <a:spLocks noGrp="1"/>
          </p:cNvSpPr>
          <p:nvPr>
            <p:ph idx="1"/>
          </p:nvPr>
        </p:nvSpPr>
        <p:spPr>
          <a:xfrm>
            <a:off x="677334" y="1606731"/>
            <a:ext cx="8596668" cy="4434631"/>
          </a:xfrm>
        </p:spPr>
        <p:txBody>
          <a:bodyPr>
            <a:normAutofit fontScale="92500" lnSpcReduction="20000"/>
          </a:bodyPr>
          <a:lstStyle/>
          <a:p>
            <a:pPr marL="0" indent="0">
              <a:lnSpc>
                <a:spcPct val="150000"/>
              </a:lnSpc>
              <a:buNone/>
            </a:pPr>
            <a:r>
              <a:rPr lang="en-US" dirty="0"/>
              <a:t>One of the earliest challenges was dealing with invalid player inputs. When a user entered characters or symbols instead of numbers, the program either entered an infinite loop or crashed unexpectedly. This occurred because the </a:t>
            </a:r>
            <a:r>
              <a:rPr lang="en-US" dirty="0" err="1"/>
              <a:t>scanf</a:t>
            </a:r>
            <a:r>
              <a:rPr lang="en-US" dirty="0"/>
              <a:t>() function attempted to read an integer but encountered incompatible data types, leaving unread characters in the input buffer.</a:t>
            </a:r>
          </a:p>
          <a:p>
            <a:pPr marL="0" indent="0">
              <a:lnSpc>
                <a:spcPct val="150000"/>
              </a:lnSpc>
              <a:buNone/>
            </a:pPr>
            <a:r>
              <a:rPr lang="en-US" dirty="0"/>
              <a:t>To solve this, input validation was implemented using:</a:t>
            </a:r>
          </a:p>
          <a:p>
            <a:pPr>
              <a:lnSpc>
                <a:spcPct val="150000"/>
              </a:lnSpc>
            </a:pPr>
            <a:r>
              <a:rPr lang="en-US" dirty="0"/>
              <a:t>if (</a:t>
            </a:r>
            <a:r>
              <a:rPr lang="en-US" dirty="0" err="1"/>
              <a:t>scanf</a:t>
            </a:r>
            <a:r>
              <a:rPr lang="en-US" dirty="0"/>
              <a:t>("%d", &amp;box) != 1)</a:t>
            </a:r>
          </a:p>
          <a:p>
            <a:pPr marL="0" indent="0">
              <a:lnSpc>
                <a:spcPct val="150000"/>
              </a:lnSpc>
              <a:buNone/>
            </a:pPr>
            <a:r>
              <a:rPr lang="en-US" dirty="0"/>
              <a:t>and a buffer-clearing statement:</a:t>
            </a:r>
          </a:p>
          <a:p>
            <a:pPr>
              <a:lnSpc>
                <a:spcPct val="150000"/>
              </a:lnSpc>
            </a:pPr>
            <a:r>
              <a:rPr lang="en-US" dirty="0"/>
              <a:t>while (</a:t>
            </a:r>
            <a:r>
              <a:rPr lang="en-US" dirty="0" err="1"/>
              <a:t>getchar</a:t>
            </a:r>
            <a:r>
              <a:rPr lang="en-US" dirty="0"/>
              <a:t>() != '\n');</a:t>
            </a:r>
          </a:p>
          <a:p>
            <a:pPr marL="0" indent="0">
              <a:lnSpc>
                <a:spcPct val="150000"/>
              </a:lnSpc>
              <a:buNone/>
            </a:pPr>
            <a:r>
              <a:rPr lang="en-US" dirty="0"/>
              <a:t>This ensured that any invalid input was discarded safely before the program accepted new data. As a result, the game became much more stable and user-friendly.</a:t>
            </a:r>
          </a:p>
        </p:txBody>
      </p:sp>
    </p:spTree>
    <p:extLst>
      <p:ext uri="{BB962C8B-B14F-4D97-AF65-F5344CB8AC3E}">
        <p14:creationId xmlns:p14="http://schemas.microsoft.com/office/powerpoint/2010/main" val="28361441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844731"/>
            <a:ext cx="8596668" cy="1320800"/>
          </a:xfrm>
        </p:spPr>
        <p:txBody>
          <a:bodyPr>
            <a:normAutofit/>
          </a:bodyPr>
          <a:lstStyle/>
          <a:p>
            <a:r>
              <a:rPr lang="en-US" b="1" dirty="0"/>
              <a:t>2</a:t>
            </a:r>
            <a:r>
              <a:rPr lang="en-US" b="1" dirty="0" smtClean="0"/>
              <a:t>. </a:t>
            </a:r>
            <a:r>
              <a:rPr lang="en-US" b="1" dirty="0"/>
              <a:t>Overwriting of Player Moves</a:t>
            </a:r>
            <a:r>
              <a:rPr lang="en-US" dirty="0"/>
              <a:t/>
            </a:r>
            <a:br>
              <a:rPr lang="en-US" dirty="0"/>
            </a:br>
            <a:endParaRPr lang="en-US" dirty="0"/>
          </a:p>
        </p:txBody>
      </p:sp>
      <p:sp>
        <p:nvSpPr>
          <p:cNvPr id="3" name="Content Placeholder 2"/>
          <p:cNvSpPr>
            <a:spLocks noGrp="1"/>
          </p:cNvSpPr>
          <p:nvPr>
            <p:ph idx="1"/>
          </p:nvPr>
        </p:nvSpPr>
        <p:spPr>
          <a:xfrm>
            <a:off x="677334" y="1930400"/>
            <a:ext cx="8596668" cy="3880773"/>
          </a:xfrm>
        </p:spPr>
        <p:txBody>
          <a:bodyPr/>
          <a:lstStyle/>
          <a:p>
            <a:pPr marL="0" indent="0">
              <a:lnSpc>
                <a:spcPct val="150000"/>
              </a:lnSpc>
              <a:buNone/>
            </a:pPr>
            <a:r>
              <a:rPr lang="en-US" dirty="0"/>
              <a:t>At first, players were able to overwrite each other’s moves, which broke the fairness of the game. This happened because there was no condition preventing users from selecting a position that was already filled.</a:t>
            </a:r>
          </a:p>
          <a:p>
            <a:pPr marL="0" indent="0">
              <a:lnSpc>
                <a:spcPct val="150000"/>
              </a:lnSpc>
              <a:buNone/>
            </a:pPr>
            <a:r>
              <a:rPr lang="en-US" dirty="0"/>
              <a:t>The solution was to add a validation check:</a:t>
            </a:r>
          </a:p>
          <a:p>
            <a:pPr>
              <a:lnSpc>
                <a:spcPct val="150000"/>
              </a:lnSpc>
            </a:pPr>
            <a:r>
              <a:rPr lang="en-US" dirty="0"/>
              <a:t>if (box &lt; 1 || box &gt; 9 || board[box - 1] != box + '0')</a:t>
            </a:r>
          </a:p>
          <a:p>
            <a:pPr marL="0" indent="0">
              <a:lnSpc>
                <a:spcPct val="150000"/>
              </a:lnSpc>
              <a:buNone/>
            </a:pPr>
            <a:r>
              <a:rPr lang="en-US" dirty="0"/>
              <a:t>This ensured that each move could only be placed in an unoccupied box. Once a cell contained an ‘X’ or ‘O’, the program disallowed any further changes to it, thus enforcing proper game rules.</a:t>
            </a:r>
          </a:p>
          <a:p>
            <a:pPr>
              <a:lnSpc>
                <a:spcPct val="150000"/>
              </a:lnSpc>
            </a:pPr>
            <a:endParaRPr lang="en-US" dirty="0"/>
          </a:p>
        </p:txBody>
      </p:sp>
    </p:spTree>
    <p:extLst>
      <p:ext uri="{BB962C8B-B14F-4D97-AF65-F5344CB8AC3E}">
        <p14:creationId xmlns:p14="http://schemas.microsoft.com/office/powerpoint/2010/main" val="22647554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3. </a:t>
            </a:r>
            <a:r>
              <a:rPr lang="en-US" b="1" dirty="0"/>
              <a:t>Incorrect Win Detection</a:t>
            </a:r>
            <a:r>
              <a:rPr lang="en-US" dirty="0"/>
              <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pPr marL="0" indent="0">
              <a:lnSpc>
                <a:spcPct val="150000"/>
              </a:lnSpc>
              <a:buNone/>
            </a:pPr>
            <a:r>
              <a:rPr lang="en-US" dirty="0"/>
              <a:t>Another major difficulty was the program’s failure to correctly detect diagonal victories. Initially, the game recognized horizontal and vertical wins but sometimes ignored diagonal ones.</a:t>
            </a:r>
          </a:p>
          <a:p>
            <a:pPr marL="0" indent="0">
              <a:lnSpc>
                <a:spcPct val="150000"/>
              </a:lnSpc>
              <a:buNone/>
            </a:pPr>
            <a:r>
              <a:rPr lang="en-US" dirty="0"/>
              <a:t>This was due to a </a:t>
            </a:r>
            <a:r>
              <a:rPr lang="en-US" b="1" dirty="0"/>
              <a:t>mismatch between logical indices and their displayed positions</a:t>
            </a:r>
            <a:r>
              <a:rPr lang="en-US" dirty="0"/>
              <a:t>. After carefully analyzing the board layout, the formula:</a:t>
            </a:r>
          </a:p>
          <a:p>
            <a:pPr>
              <a:lnSpc>
                <a:spcPct val="150000"/>
              </a:lnSpc>
            </a:pPr>
            <a:r>
              <a:rPr lang="en-US" dirty="0"/>
              <a:t>n = j + </a:t>
            </a:r>
            <a:r>
              <a:rPr lang="en-US" dirty="0" err="1"/>
              <a:t>i</a:t>
            </a:r>
            <a:r>
              <a:rPr lang="en-US" dirty="0"/>
              <a:t> * 3</a:t>
            </a:r>
          </a:p>
          <a:p>
            <a:pPr marL="0" indent="0">
              <a:lnSpc>
                <a:spcPct val="150000"/>
              </a:lnSpc>
              <a:buNone/>
            </a:pPr>
            <a:r>
              <a:rPr lang="en-US" dirty="0"/>
              <a:t>was applied to maintain consistent mapping between the 1D array indices and the 3×3 grid. This correction ensured that all eight winning combinations — three rows, three columns, and two diagonals — were properly detected.</a:t>
            </a:r>
          </a:p>
          <a:p>
            <a:pPr>
              <a:lnSpc>
                <a:spcPct val="150000"/>
              </a:lnSpc>
            </a:pPr>
            <a:endParaRPr lang="en-US" dirty="0"/>
          </a:p>
        </p:txBody>
      </p:sp>
    </p:spTree>
    <p:extLst>
      <p:ext uri="{BB962C8B-B14F-4D97-AF65-F5344CB8AC3E}">
        <p14:creationId xmlns:p14="http://schemas.microsoft.com/office/powerpoint/2010/main" val="22774774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4. </a:t>
            </a:r>
            <a:r>
              <a:rPr lang="en-US" b="1" dirty="0"/>
              <a:t>Draw Condition Not Recognized</a:t>
            </a:r>
            <a:r>
              <a:rPr lang="en-US" dirty="0"/>
              <a:t/>
            </a:r>
            <a:br>
              <a:rPr lang="en-US" dirty="0"/>
            </a:br>
            <a:endParaRPr lang="en-US" dirty="0"/>
          </a:p>
        </p:txBody>
      </p:sp>
      <p:sp>
        <p:nvSpPr>
          <p:cNvPr id="3" name="Content Placeholder 2"/>
          <p:cNvSpPr>
            <a:spLocks noGrp="1"/>
          </p:cNvSpPr>
          <p:nvPr>
            <p:ph idx="1"/>
          </p:nvPr>
        </p:nvSpPr>
        <p:spPr/>
        <p:txBody>
          <a:bodyPr/>
          <a:lstStyle/>
          <a:p>
            <a:pPr marL="0" indent="0">
              <a:lnSpc>
                <a:spcPct val="150000"/>
              </a:lnSpc>
              <a:buNone/>
            </a:pPr>
            <a:r>
              <a:rPr lang="en-US" dirty="0"/>
              <a:t>In early tests, when all boxes were filled without any winner, the program continued prompting players for moves indefinitely. This occurred because there was no condition to check whether the grid was full.</a:t>
            </a:r>
          </a:p>
          <a:p>
            <a:pPr marL="0" indent="0">
              <a:lnSpc>
                <a:spcPct val="150000"/>
              </a:lnSpc>
              <a:buNone/>
            </a:pPr>
            <a:r>
              <a:rPr lang="en-US" dirty="0"/>
              <a:t>The solution involved counting the number of filled cells within the </a:t>
            </a:r>
            <a:r>
              <a:rPr lang="en-US" dirty="0" err="1"/>
              <a:t>check_win</a:t>
            </a:r>
            <a:r>
              <a:rPr lang="en-US" dirty="0"/>
              <a:t>() function. When all nine boxes contained either ‘X’ or ‘O’, and no winning combination was found, the function returned -1, indicating a draw. This addition made the game logic complete and realistic.</a:t>
            </a:r>
          </a:p>
        </p:txBody>
      </p:sp>
    </p:spTree>
    <p:extLst>
      <p:ext uri="{BB962C8B-B14F-4D97-AF65-F5344CB8AC3E}">
        <p14:creationId xmlns:p14="http://schemas.microsoft.com/office/powerpoint/2010/main" val="5262092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5. </a:t>
            </a:r>
            <a:r>
              <a:rPr lang="en-US" b="1" dirty="0"/>
              <a:t>Replay Feature Malfunction</a:t>
            </a:r>
            <a:r>
              <a:rPr lang="en-US" dirty="0"/>
              <a:t/>
            </a:r>
            <a:br>
              <a:rPr lang="en-US" dirty="0"/>
            </a:br>
            <a:endParaRPr lang="en-US" dirty="0"/>
          </a:p>
        </p:txBody>
      </p:sp>
      <p:sp>
        <p:nvSpPr>
          <p:cNvPr id="3" name="Content Placeholder 2"/>
          <p:cNvSpPr>
            <a:spLocks noGrp="1"/>
          </p:cNvSpPr>
          <p:nvPr>
            <p:ph idx="1"/>
          </p:nvPr>
        </p:nvSpPr>
        <p:spPr/>
        <p:txBody>
          <a:bodyPr>
            <a:normAutofit lnSpcReduction="10000"/>
          </a:bodyPr>
          <a:lstStyle/>
          <a:p>
            <a:pPr marL="0" indent="0">
              <a:lnSpc>
                <a:spcPct val="150000"/>
              </a:lnSpc>
              <a:buNone/>
            </a:pPr>
            <a:r>
              <a:rPr lang="en-US" dirty="0"/>
              <a:t>While adding the replay feature, an error was observed where the board displayed mixed symbols from the previous match. This happened because the board array was not being reinitialized properly before a new round began.</a:t>
            </a:r>
          </a:p>
          <a:p>
            <a:pPr marL="0" indent="0">
              <a:lnSpc>
                <a:spcPct val="150000"/>
              </a:lnSpc>
              <a:buNone/>
            </a:pPr>
            <a:r>
              <a:rPr lang="en-US" dirty="0"/>
              <a:t>To fix this, a reset loop was added:</a:t>
            </a:r>
          </a:p>
          <a:p>
            <a:pPr>
              <a:lnSpc>
                <a:spcPct val="150000"/>
              </a:lnSpc>
            </a:pPr>
            <a:r>
              <a:rPr lang="en-US" dirty="0"/>
              <a:t>for (</a:t>
            </a:r>
            <a:r>
              <a:rPr lang="en-US" dirty="0" err="1"/>
              <a:t>int</a:t>
            </a:r>
            <a:r>
              <a:rPr lang="en-US" dirty="0"/>
              <a:t> </a:t>
            </a:r>
            <a:r>
              <a:rPr lang="en-US" dirty="0" err="1"/>
              <a:t>i</a:t>
            </a:r>
            <a:r>
              <a:rPr lang="en-US" dirty="0"/>
              <a:t> = 0; </a:t>
            </a:r>
            <a:r>
              <a:rPr lang="en-US" dirty="0" err="1"/>
              <a:t>i</a:t>
            </a:r>
            <a:r>
              <a:rPr lang="en-US" dirty="0"/>
              <a:t> &lt; 9; </a:t>
            </a:r>
            <a:r>
              <a:rPr lang="en-US" dirty="0" err="1"/>
              <a:t>i</a:t>
            </a:r>
            <a:r>
              <a:rPr lang="en-US" dirty="0"/>
              <a:t>++)</a:t>
            </a:r>
          </a:p>
          <a:p>
            <a:pPr marL="0" indent="0">
              <a:lnSpc>
                <a:spcPct val="150000"/>
              </a:lnSpc>
              <a:buNone/>
            </a:pPr>
            <a:r>
              <a:rPr lang="en-US" dirty="0"/>
              <a:t>    </a:t>
            </a:r>
            <a:r>
              <a:rPr lang="en-US" dirty="0" smtClean="0"/>
              <a:t> board[</a:t>
            </a:r>
            <a:r>
              <a:rPr lang="en-US" dirty="0" err="1" smtClean="0"/>
              <a:t>i</a:t>
            </a:r>
            <a:r>
              <a:rPr lang="en-US" dirty="0"/>
              <a:t>] = </a:t>
            </a:r>
            <a:r>
              <a:rPr lang="en-US" dirty="0" err="1"/>
              <a:t>i</a:t>
            </a:r>
            <a:r>
              <a:rPr lang="en-US" dirty="0"/>
              <a:t> + '1';</a:t>
            </a:r>
          </a:p>
          <a:p>
            <a:pPr marL="0" indent="0">
              <a:lnSpc>
                <a:spcPct val="150000"/>
              </a:lnSpc>
              <a:buNone/>
            </a:pPr>
            <a:r>
              <a:rPr lang="en-US" dirty="0"/>
              <a:t>This restored the board to its default numbered state, allowing the players to start fresh each time without restarting the entire program.</a:t>
            </a:r>
          </a:p>
          <a:p>
            <a:pPr>
              <a:lnSpc>
                <a:spcPct val="150000"/>
              </a:lnSpc>
            </a:pPr>
            <a:endParaRPr lang="en-US" dirty="0"/>
          </a:p>
        </p:txBody>
      </p:sp>
    </p:spTree>
    <p:extLst>
      <p:ext uri="{BB962C8B-B14F-4D97-AF65-F5344CB8AC3E}">
        <p14:creationId xmlns:p14="http://schemas.microsoft.com/office/powerpoint/2010/main" val="40666625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r>
            <a:br>
              <a:rPr lang="en-US" dirty="0" smtClean="0"/>
            </a:br>
            <a:r>
              <a:rPr lang="en-US" dirty="0" smtClean="0"/>
              <a:t>6.Unicode </a:t>
            </a:r>
            <a:r>
              <a:rPr lang="en-US" dirty="0"/>
              <a:t>character Compatibility</a:t>
            </a:r>
          </a:p>
        </p:txBody>
      </p:sp>
      <p:sp>
        <p:nvSpPr>
          <p:cNvPr id="3" name="Content Placeholder 2"/>
          <p:cNvSpPr>
            <a:spLocks noGrp="1"/>
          </p:cNvSpPr>
          <p:nvPr>
            <p:ph idx="1"/>
          </p:nvPr>
        </p:nvSpPr>
        <p:spPr/>
        <p:txBody>
          <a:bodyPr>
            <a:normAutofit lnSpcReduction="10000"/>
          </a:bodyPr>
          <a:lstStyle/>
          <a:p>
            <a:pPr marL="0" indent="0">
              <a:lnSpc>
                <a:spcPct val="150000"/>
              </a:lnSpc>
              <a:buNone/>
            </a:pPr>
            <a:r>
              <a:rPr lang="en-US" dirty="0"/>
              <a:t>By default windows consoles aren’t compatible with UTF-8 encoding. We used Unicode characters to print a neat grid. To display it properly onto windows terminals we first need to enable it which is done using the lines below</a:t>
            </a:r>
            <a:r>
              <a:rPr lang="en-US" dirty="0" smtClean="0"/>
              <a:t>.</a:t>
            </a:r>
          </a:p>
          <a:p>
            <a:pPr marL="0" indent="0">
              <a:lnSpc>
                <a:spcPct val="150000"/>
              </a:lnSpc>
              <a:buNone/>
            </a:pPr>
            <a:r>
              <a:rPr lang="en-US" dirty="0" smtClean="0"/>
              <a:t>#</a:t>
            </a:r>
            <a:r>
              <a:rPr lang="en-US" dirty="0" err="1"/>
              <a:t>ifdef</a:t>
            </a:r>
            <a:r>
              <a:rPr lang="en-US" dirty="0"/>
              <a:t> _WIN32   </a:t>
            </a:r>
            <a:endParaRPr lang="en-US" dirty="0" smtClean="0"/>
          </a:p>
          <a:p>
            <a:pPr marL="0" indent="0">
              <a:lnSpc>
                <a:spcPct val="150000"/>
              </a:lnSpc>
              <a:buNone/>
            </a:pPr>
            <a:r>
              <a:rPr lang="en-US" dirty="0" smtClean="0"/>
              <a:t> </a:t>
            </a:r>
            <a:r>
              <a:rPr lang="en-US" dirty="0" err="1"/>
              <a:t>SetConsoleOutputCP</a:t>
            </a:r>
            <a:r>
              <a:rPr lang="en-US" dirty="0"/>
              <a:t>(CP_UTF8</a:t>
            </a:r>
            <a:r>
              <a:rPr lang="en-US" dirty="0" smtClean="0"/>
              <a:t>);</a:t>
            </a:r>
          </a:p>
          <a:p>
            <a:pPr marL="0" indent="0">
              <a:lnSpc>
                <a:spcPct val="150000"/>
              </a:lnSpc>
              <a:buNone/>
            </a:pPr>
            <a:r>
              <a:rPr lang="en-US" dirty="0" smtClean="0"/>
              <a:t>#</a:t>
            </a:r>
            <a:r>
              <a:rPr lang="en-US" dirty="0" err="1" smtClean="0"/>
              <a:t>endif</a:t>
            </a:r>
            <a:endParaRPr lang="en-US" dirty="0" smtClean="0"/>
          </a:p>
          <a:p>
            <a:pPr marL="0" indent="0">
              <a:lnSpc>
                <a:spcPct val="150000"/>
              </a:lnSpc>
              <a:buNone/>
            </a:pPr>
            <a:r>
              <a:rPr lang="en-US" dirty="0" smtClean="0"/>
              <a:t>This </a:t>
            </a:r>
            <a:r>
              <a:rPr lang="en-US" dirty="0"/>
              <a:t>line enabled UTF-8 output on Windows systems, making the interface work universally across different platforms.</a:t>
            </a:r>
          </a:p>
        </p:txBody>
      </p:sp>
    </p:spTree>
    <p:extLst>
      <p:ext uri="{BB962C8B-B14F-4D97-AF65-F5344CB8AC3E}">
        <p14:creationId xmlns:p14="http://schemas.microsoft.com/office/powerpoint/2010/main" val="20704208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Lessons Learned</a:t>
            </a:r>
            <a:r>
              <a:rPr lang="en-US" dirty="0"/>
              <a:t/>
            </a:r>
            <a:br>
              <a:rPr lang="en-US" dirty="0"/>
            </a:br>
            <a:endParaRPr lang="en-US" dirty="0"/>
          </a:p>
        </p:txBody>
      </p:sp>
      <p:sp>
        <p:nvSpPr>
          <p:cNvPr id="3" name="Content Placeholder 2"/>
          <p:cNvSpPr>
            <a:spLocks noGrp="1"/>
          </p:cNvSpPr>
          <p:nvPr>
            <p:ph idx="1"/>
          </p:nvPr>
        </p:nvSpPr>
        <p:spPr>
          <a:xfrm>
            <a:off x="677334" y="1567544"/>
            <a:ext cx="8596668" cy="4669762"/>
          </a:xfrm>
        </p:spPr>
        <p:txBody>
          <a:bodyPr>
            <a:normAutofit fontScale="92500" lnSpcReduction="20000"/>
          </a:bodyPr>
          <a:lstStyle/>
          <a:p>
            <a:pPr marL="0" indent="0">
              <a:buNone/>
            </a:pPr>
            <a:r>
              <a:rPr lang="en-US" dirty="0"/>
              <a:t>Overcoming these challenges taught valuable lessons about programming discipline and systematic debugging. The process reinforced several key principles:</a:t>
            </a:r>
          </a:p>
          <a:p>
            <a:pPr lvl="0"/>
            <a:r>
              <a:rPr lang="en-US" b="1" dirty="0"/>
              <a:t>Input Validation is Essential</a:t>
            </a:r>
            <a:r>
              <a:rPr lang="en-US" dirty="0"/>
              <a:t> – Never trust user input; always verify data types and boundaries.</a:t>
            </a:r>
          </a:p>
          <a:p>
            <a:pPr lvl="0"/>
            <a:r>
              <a:rPr lang="en-US" b="1" dirty="0"/>
              <a:t>Modular Code Design</a:t>
            </a:r>
            <a:r>
              <a:rPr lang="en-US" dirty="0"/>
              <a:t> – Keeping related logic within functions like </a:t>
            </a:r>
            <a:r>
              <a:rPr lang="en-US" dirty="0" err="1"/>
              <a:t>print_board</a:t>
            </a:r>
            <a:r>
              <a:rPr lang="en-US" dirty="0"/>
              <a:t>() or </a:t>
            </a:r>
            <a:r>
              <a:rPr lang="en-US" dirty="0" err="1"/>
              <a:t>check_win</a:t>
            </a:r>
            <a:r>
              <a:rPr lang="en-US" dirty="0"/>
              <a:t>() improves readability and maintainability.</a:t>
            </a:r>
          </a:p>
          <a:p>
            <a:pPr lvl="0"/>
            <a:r>
              <a:rPr lang="en-US" b="1" dirty="0"/>
              <a:t>Logical Consistency</a:t>
            </a:r>
            <a:r>
              <a:rPr lang="en-US" dirty="0"/>
              <a:t> – Always map visual representation and data structure correctly to avoid index mismatches.</a:t>
            </a:r>
          </a:p>
          <a:p>
            <a:pPr lvl="0"/>
            <a:r>
              <a:rPr lang="en-US" b="1" dirty="0"/>
              <a:t>Cross-Platform Awareness</a:t>
            </a:r>
            <a:r>
              <a:rPr lang="en-US" dirty="0"/>
              <a:t> – Programs should be tested across environments to ensure consistent behavior.</a:t>
            </a:r>
          </a:p>
          <a:p>
            <a:pPr lvl="0"/>
            <a:r>
              <a:rPr lang="en-US" b="1" dirty="0"/>
              <a:t>Incremental Debugging</a:t>
            </a:r>
            <a:r>
              <a:rPr lang="en-US" dirty="0"/>
              <a:t> – Testing one feature at a time helps isolate bugs and leads to efficient troubleshooting.</a:t>
            </a:r>
          </a:p>
          <a:p>
            <a:pPr marL="0" indent="0">
              <a:buNone/>
            </a:pPr>
            <a:r>
              <a:rPr lang="en-US" dirty="0"/>
              <a:t>In conclusion, every difficulty faced during the development process contributed to stronger problem-solving ability, deeper command over C syntax, and a practical understanding of structured programming. These lessons not only improved the project’s final outcome but also provided foundational skills for tackling more advanced software development challenges in the future.</a:t>
            </a:r>
          </a:p>
          <a:p>
            <a:endParaRPr lang="en-US" dirty="0"/>
          </a:p>
        </p:txBody>
      </p:sp>
    </p:spTree>
    <p:extLst>
      <p:ext uri="{BB962C8B-B14F-4D97-AF65-F5344CB8AC3E}">
        <p14:creationId xmlns:p14="http://schemas.microsoft.com/office/powerpoint/2010/main" val="15030542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0F10C-9317-451D-94E2-1015DA56A1DD}"/>
              </a:ext>
            </a:extLst>
          </p:cNvPr>
          <p:cNvSpPr>
            <a:spLocks noGrp="1"/>
          </p:cNvSpPr>
          <p:nvPr>
            <p:ph type="title"/>
          </p:nvPr>
        </p:nvSpPr>
        <p:spPr/>
        <p:txBody>
          <a:bodyPr/>
          <a:lstStyle/>
          <a:p>
            <a:r>
              <a:rPr lang="en-US" dirty="0" smtClean="0"/>
              <a:t/>
            </a:r>
            <a:br>
              <a:rPr lang="en-US" dirty="0" smtClean="0"/>
            </a:br>
            <a:r>
              <a:rPr lang="en-US" dirty="0" smtClean="0"/>
              <a:t>Conclusion</a:t>
            </a:r>
            <a:endParaRPr lang="en-US" dirty="0"/>
          </a:p>
        </p:txBody>
      </p:sp>
      <p:sp>
        <p:nvSpPr>
          <p:cNvPr id="3" name="Content Placeholder 2">
            <a:extLst>
              <a:ext uri="{FF2B5EF4-FFF2-40B4-BE49-F238E27FC236}">
                <a16:creationId xmlns:a16="http://schemas.microsoft.com/office/drawing/2014/main" id="{E0F56964-D6ED-4200-A8D3-A4F83BB32E8F}"/>
              </a:ext>
            </a:extLst>
          </p:cNvPr>
          <p:cNvSpPr>
            <a:spLocks noGrp="1"/>
          </p:cNvSpPr>
          <p:nvPr>
            <p:ph idx="1"/>
          </p:nvPr>
        </p:nvSpPr>
        <p:spPr>
          <a:xfrm>
            <a:off x="677334" y="2160589"/>
            <a:ext cx="8596668" cy="3880773"/>
          </a:xfrm>
        </p:spPr>
        <p:txBody>
          <a:bodyPr>
            <a:normAutofit fontScale="92500"/>
          </a:bodyPr>
          <a:lstStyle/>
          <a:p>
            <a:pPr marL="0" indent="0">
              <a:buNone/>
            </a:pPr>
            <a:r>
              <a:rPr lang="en-US" sz="2800" dirty="0"/>
              <a:t>This Tic Tac Toe game is a perfect example of how to use arrays, loops, functions, and conditions in C programming. It also teaches how to manage player turns, validate user input, and display results interactively. By studying this program, beginners can improve their logical thinking and understand how small programs combine to create complete games. This game also eliminates the need to use paper and pen and makes it easier to play it again and again.</a:t>
            </a:r>
          </a:p>
        </p:txBody>
      </p:sp>
    </p:spTree>
    <p:extLst>
      <p:ext uri="{BB962C8B-B14F-4D97-AF65-F5344CB8AC3E}">
        <p14:creationId xmlns:p14="http://schemas.microsoft.com/office/powerpoint/2010/main" val="3853297123"/>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8C59B386-999D-4CB6-B907-9F3997C027CC}"/>
    </a:ext>
  </a:extLst>
</a:theme>
</file>

<file path=docProps/app.xml><?xml version="1.0" encoding="utf-8"?>
<Properties xmlns="http://schemas.openxmlformats.org/officeDocument/2006/extended-properties" xmlns:vt="http://schemas.openxmlformats.org/officeDocument/2006/docPropsVTypes">
  <Template>Facet</Template>
  <TotalTime>227</TotalTime>
  <Words>1525</Words>
  <Application>Microsoft Office PowerPoint</Application>
  <PresentationFormat>Widescreen</PresentationFormat>
  <Paragraphs>67</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Trebuchet MS</vt:lpstr>
      <vt:lpstr>Wingdings</vt:lpstr>
      <vt:lpstr>Wingdings 3</vt:lpstr>
      <vt:lpstr>Facet</vt:lpstr>
      <vt:lpstr>Tic Tac Toe Game in      C-Language</vt:lpstr>
      <vt:lpstr> Introduction</vt:lpstr>
      <vt:lpstr> Step 1 – Code Setup</vt:lpstr>
      <vt:lpstr> Step 2 – Main Function Flow</vt:lpstr>
      <vt:lpstr> Step 3 – Marking and Checking for Win</vt:lpstr>
      <vt:lpstr>Functions in our programs…</vt:lpstr>
      <vt:lpstr> Display Board Function</vt:lpstr>
      <vt:lpstr> Win Checker</vt:lpstr>
      <vt:lpstr>Sample Output  </vt:lpstr>
      <vt:lpstr> Difficulties Faced and Their Resolutions </vt:lpstr>
      <vt:lpstr>1.Input Validation Errors</vt:lpstr>
      <vt:lpstr>2. Overwriting of Player Moves </vt:lpstr>
      <vt:lpstr> 3. Incorrect Win Detection </vt:lpstr>
      <vt:lpstr> 4. Draw Condition Not Recognized </vt:lpstr>
      <vt:lpstr> 5. Replay Feature Malfunction </vt:lpstr>
      <vt:lpstr> 6.Unicode character Compatibility</vt:lpstr>
      <vt:lpstr>Lessons Learned </vt:lpstr>
      <vt:lpstr> 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Tic Tac Toe Game in      C-Language</dc:title>
  <dc:creator>MALLICK</dc:creator>
  <cp:lastModifiedBy>User</cp:lastModifiedBy>
  <cp:revision>15</cp:revision>
  <dcterms:created xsi:type="dcterms:W3CDTF">2025-11-10T16:44:21Z</dcterms:created>
  <dcterms:modified xsi:type="dcterms:W3CDTF">2025-11-11T10:59:09Z</dcterms:modified>
</cp:coreProperties>
</file>